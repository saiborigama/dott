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62" r:id="rId4"/>
    <p:sldId id="260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D908-AA8E-E1B4-A5EF-E33A320EF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6881C-F98B-B84F-6787-EB2F82D6E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1702C-D620-2EBE-3686-56097736F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EF468-1790-F3AD-127E-0B114DD74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8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AAD43-7B08-CE4E-FDEB-88C1EC1C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4A36A-C4B0-1D9B-8E5E-55BEE6843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81134-2A43-D6AD-95C6-BE6CC4974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A57F6-4755-8245-6C1C-233B08B035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55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PROMOTION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REPORT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0972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for all clients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9743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on 2nd of every month  |  Covering Seasonal &amp; Festival-Based Offers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CE75E-D586-FA3C-9EE2-38A92EC9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A22D2C-88B5-14B0-6986-A483D7BFF68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E2724A-A8A2-B731-B1E6-D9A42BCB204A}"/>
              </a:ext>
            </a:extLst>
          </p:cNvPr>
          <p:cNvSpPr/>
          <p:nvPr/>
        </p:nvSpPr>
        <p:spPr>
          <a:xfrm>
            <a:off x="384048" y="87791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Data Coverage &amp; Purpose</a:t>
            </a:r>
            <a:endParaRPr lang="en-US" sz="2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ED0628F-A058-1D7A-4ADC-3519086F1726}"/>
              </a:ext>
            </a:extLst>
          </p:cNvPr>
          <p:cNvSpPr/>
          <p:nvPr/>
        </p:nvSpPr>
        <p:spPr>
          <a:xfrm>
            <a:off x="429768" y="768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9F4D87C-2F70-0A9E-CDC6-139E9C774937}"/>
              </a:ext>
            </a:extLst>
          </p:cNvPr>
          <p:cNvSpPr/>
          <p:nvPr/>
        </p:nvSpPr>
        <p:spPr>
          <a:xfrm>
            <a:off x="4910328" y="768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E4F8CED-F374-9A78-286A-93C829D0CB2C}"/>
              </a:ext>
            </a:extLst>
          </p:cNvPr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60D53D4-BDA9-756B-CC40-B2E3CC696C98}"/>
              </a:ext>
            </a:extLst>
          </p:cNvPr>
          <p:cNvSpPr/>
          <p:nvPr/>
        </p:nvSpPr>
        <p:spPr>
          <a:xfrm>
            <a:off x="0" y="49743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Promotion Intelligence Report  |  March 2026</a:t>
            </a:r>
            <a:endParaRPr lang="en-US" sz="900" dirty="0"/>
          </a:p>
        </p:txBody>
      </p:sp>
      <p:sp>
        <p:nvSpPr>
          <p:cNvPr id="31" name="Shape 5"/>
          <p:cNvSpPr/>
          <p:nvPr/>
        </p:nvSpPr>
        <p:spPr>
          <a:xfrm>
            <a:off x="424610" y="756842"/>
            <a:ext cx="192024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6"/>
          <p:cNvSpPr/>
          <p:nvPr/>
        </p:nvSpPr>
        <p:spPr>
          <a:xfrm>
            <a:off x="324260" y="1011819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4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CE59BE33-3476-C82B-AEC5-0CE830F91B62}"/>
              </a:ext>
            </a:extLst>
          </p:cNvPr>
          <p:cNvSpPr/>
          <p:nvPr/>
        </p:nvSpPr>
        <p:spPr>
          <a:xfrm>
            <a:off x="2706624" y="746555"/>
            <a:ext cx="192024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B66DC8EB-E2A7-9215-B9A4-B5DB7DF70E50}"/>
              </a:ext>
            </a:extLst>
          </p:cNvPr>
          <p:cNvSpPr/>
          <p:nvPr/>
        </p:nvSpPr>
        <p:spPr>
          <a:xfrm>
            <a:off x="4910328" y="768096"/>
            <a:ext cx="192024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2C689171-E8A8-C70C-F598-48B7D9C0CB11}"/>
              </a:ext>
            </a:extLst>
          </p:cNvPr>
          <p:cNvSpPr/>
          <p:nvPr/>
        </p:nvSpPr>
        <p:spPr>
          <a:xfrm>
            <a:off x="7056120" y="781226"/>
            <a:ext cx="192024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8CD2861E-84F7-5F35-1987-B55BE2B2BA26}"/>
              </a:ext>
            </a:extLst>
          </p:cNvPr>
          <p:cNvSpPr/>
          <p:nvPr/>
        </p:nvSpPr>
        <p:spPr>
          <a:xfrm>
            <a:off x="2706624" y="931633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24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A10DA097-5E1E-98C7-B746-2DF4B86CB919}"/>
              </a:ext>
            </a:extLst>
          </p:cNvPr>
          <p:cNvSpPr/>
          <p:nvPr/>
        </p:nvSpPr>
        <p:spPr>
          <a:xfrm>
            <a:off x="5030372" y="9509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9CA4B5D8-400B-DDA5-6372-4A51D0F24310}"/>
              </a:ext>
            </a:extLst>
          </p:cNvPr>
          <p:cNvSpPr/>
          <p:nvPr/>
        </p:nvSpPr>
        <p:spPr>
          <a:xfrm>
            <a:off x="7114032" y="1020875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2400" dirty="0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8EB3BD2A-D892-5B70-3988-A6AF51E1A2DC}"/>
              </a:ext>
            </a:extLst>
          </p:cNvPr>
          <p:cNvSpPr/>
          <p:nvPr/>
        </p:nvSpPr>
        <p:spPr>
          <a:xfrm>
            <a:off x="371856" y="145389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Cities</a:t>
            </a:r>
            <a:endParaRPr lang="en-US" sz="1100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984708BF-3619-CCD4-8173-D535C8768A64}"/>
              </a:ext>
            </a:extLst>
          </p:cNvPr>
          <p:cNvSpPr/>
          <p:nvPr/>
        </p:nvSpPr>
        <p:spPr>
          <a:xfrm>
            <a:off x="2706624" y="1377843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</a:t>
            </a:r>
            <a:endParaRPr lang="en-US" sz="11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A288AD6C-17BF-9CED-ED64-CC4584EE476D}"/>
              </a:ext>
            </a:extLst>
          </p:cNvPr>
          <p:cNvSpPr/>
          <p:nvPr/>
        </p:nvSpPr>
        <p:spPr>
          <a:xfrm>
            <a:off x="4972460" y="135049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10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03B23A7B-04AC-63CA-0F6B-96F073DE0AE7}"/>
              </a:ext>
            </a:extLst>
          </p:cNvPr>
          <p:cNvSpPr/>
          <p:nvPr/>
        </p:nvSpPr>
        <p:spPr>
          <a:xfrm>
            <a:off x="7056120" y="1408909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Delivered on </a:t>
            </a: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2nd of every month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61F03D89-C5F1-4F0A-68A9-52E54A582F40}"/>
              </a:ext>
            </a:extLst>
          </p:cNvPr>
          <p:cNvSpPr/>
          <p:nvPr/>
        </p:nvSpPr>
        <p:spPr>
          <a:xfrm>
            <a:off x="457200" y="2712603"/>
            <a:ext cx="82296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42DAA52B-78B3-25CD-7326-F3867DE94067}"/>
              </a:ext>
            </a:extLst>
          </p:cNvPr>
          <p:cNvSpPr/>
          <p:nvPr/>
        </p:nvSpPr>
        <p:spPr>
          <a:xfrm>
            <a:off x="457200" y="2732649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&amp; Social media accounts.</a:t>
            </a:r>
          </a:p>
          <a:p>
            <a:b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chemeClr val="bg1"/>
                </a:solidFill>
              </a:rPr>
              <a:t>To track and analyze dealer-level promotional offers across cities- identifying demand drivers and market trends </a:t>
            </a:r>
            <a:r>
              <a:rPr lang="en-IN" sz="1100" dirty="0">
                <a:solidFill>
                  <a:schemeClr val="bg1"/>
                </a:solidFill>
              </a:rPr>
              <a:t>to support pricing strategy, marketing planning, and also identify demand in various segments.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69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E2B46-33B0-6A3B-2AFA-6141218C3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CD1CBA-CDC0-B587-66F8-DAD351E7077C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AB31A2-E2BC-C9B7-5B36-B47FFE5CCAAD}"/>
              </a:ext>
            </a:extLst>
          </p:cNvPr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COVERS IN REPORT…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E640A2A-77A6-CB23-B8AC-A10E5631E0DD}"/>
              </a:ext>
            </a:extLst>
          </p:cNvPr>
          <p:cNvSpPr/>
          <p:nvPr/>
        </p:nvSpPr>
        <p:spPr>
          <a:xfrm>
            <a:off x="320040" y="685800"/>
            <a:ext cx="3840480" cy="3931920"/>
          </a:xfrm>
          <a:prstGeom prst="rect">
            <a:avLst/>
          </a:prstGeom>
          <a:solidFill>
            <a:srgbClr val="0D1B3E"/>
          </a:solidFill>
          <a:ln w="254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8394B5-10D5-034F-D737-6DD15FE559D3}"/>
              </a:ext>
            </a:extLst>
          </p:cNvPr>
          <p:cNvSpPr/>
          <p:nvPr/>
        </p:nvSpPr>
        <p:spPr>
          <a:xfrm>
            <a:off x="320040" y="749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TRACKING COVERS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9CE1388-8413-3686-8B31-D7510C30B7D4}"/>
              </a:ext>
            </a:extLst>
          </p:cNvPr>
          <p:cNvSpPr/>
          <p:nvPr/>
        </p:nvSpPr>
        <p:spPr>
          <a:xfrm>
            <a:off x="411480" y="1161288"/>
            <a:ext cx="36576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6E75829-59D3-1071-AD92-BAC8F915F462}"/>
              </a:ext>
            </a:extLst>
          </p:cNvPr>
          <p:cNvSpPr/>
          <p:nvPr/>
        </p:nvSpPr>
        <p:spPr>
          <a:xfrm>
            <a:off x="457200" y="1691640"/>
            <a:ext cx="356616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6CF25D1-B07E-29E0-FFA5-3977C9EC8DC3}"/>
              </a:ext>
            </a:extLst>
          </p:cNvPr>
          <p:cNvSpPr/>
          <p:nvPr/>
        </p:nvSpPr>
        <p:spPr>
          <a:xfrm>
            <a:off x="457200" y="1691640"/>
            <a:ext cx="45720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B4257A0-FA1A-17E9-1D9D-2D3E7097FF69}"/>
              </a:ext>
            </a:extLst>
          </p:cNvPr>
          <p:cNvSpPr/>
          <p:nvPr/>
        </p:nvSpPr>
        <p:spPr>
          <a:xfrm>
            <a:off x="594360" y="170992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Festivals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3D2DE67-5BCB-BE19-DDC6-815F9503F1B5}"/>
              </a:ext>
            </a:extLst>
          </p:cNvPr>
          <p:cNvSpPr/>
          <p:nvPr/>
        </p:nvSpPr>
        <p:spPr>
          <a:xfrm>
            <a:off x="457200" y="2148840"/>
            <a:ext cx="356616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7A15EC-3C02-C331-124C-2453FC8C34F9}"/>
              </a:ext>
            </a:extLst>
          </p:cNvPr>
          <p:cNvSpPr/>
          <p:nvPr/>
        </p:nvSpPr>
        <p:spPr>
          <a:xfrm>
            <a:off x="457200" y="2148840"/>
            <a:ext cx="457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A82550A-777C-CE6E-3225-2BB6D0D1EEE9}"/>
              </a:ext>
            </a:extLst>
          </p:cNvPr>
          <p:cNvSpPr/>
          <p:nvPr/>
        </p:nvSpPr>
        <p:spPr>
          <a:xfrm>
            <a:off x="594360" y="216712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Aggressive Discounts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7C90E7E-07C4-5D24-F7FF-B89AA47F9FC6}"/>
              </a:ext>
            </a:extLst>
          </p:cNvPr>
          <p:cNvSpPr/>
          <p:nvPr/>
        </p:nvSpPr>
        <p:spPr>
          <a:xfrm>
            <a:off x="457200" y="2606040"/>
            <a:ext cx="356616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1C389EC-3A03-2671-853B-FA4AE8B0B3A0}"/>
              </a:ext>
            </a:extLst>
          </p:cNvPr>
          <p:cNvSpPr/>
          <p:nvPr/>
        </p:nvSpPr>
        <p:spPr>
          <a:xfrm>
            <a:off x="457200" y="2606040"/>
            <a:ext cx="457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F49DF27-2AA5-AA7D-D426-36A8E0D45731}"/>
              </a:ext>
            </a:extLst>
          </p:cNvPr>
          <p:cNvSpPr/>
          <p:nvPr/>
        </p:nvSpPr>
        <p:spPr>
          <a:xfrm>
            <a:off x="594360" y="262432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Finance Schemes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272E498-0A68-B30C-1D92-FC22A7F7282A}"/>
              </a:ext>
            </a:extLst>
          </p:cNvPr>
          <p:cNvSpPr/>
          <p:nvPr/>
        </p:nvSpPr>
        <p:spPr>
          <a:xfrm>
            <a:off x="457200" y="3063240"/>
            <a:ext cx="356616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FCB1C65-7EEB-7F8B-D1F8-0517181CBE13}"/>
              </a:ext>
            </a:extLst>
          </p:cNvPr>
          <p:cNvSpPr/>
          <p:nvPr/>
        </p:nvSpPr>
        <p:spPr>
          <a:xfrm>
            <a:off x="457200" y="3063240"/>
            <a:ext cx="4572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1B9683B-092F-7323-30E3-41BA1679A39E}"/>
              </a:ext>
            </a:extLst>
          </p:cNvPr>
          <p:cNvSpPr/>
          <p:nvPr/>
        </p:nvSpPr>
        <p:spPr>
          <a:xfrm>
            <a:off x="594360" y="308152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Urgency Messaging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E991996-EF68-46E8-89E7-7DD061B1D512}"/>
              </a:ext>
            </a:extLst>
          </p:cNvPr>
          <p:cNvSpPr/>
          <p:nvPr/>
        </p:nvSpPr>
        <p:spPr>
          <a:xfrm>
            <a:off x="457200" y="3520440"/>
            <a:ext cx="356616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5E06AB9-CACC-0113-64E9-CB8A68B02EFC}"/>
              </a:ext>
            </a:extLst>
          </p:cNvPr>
          <p:cNvSpPr/>
          <p:nvPr/>
        </p:nvSpPr>
        <p:spPr>
          <a:xfrm>
            <a:off x="457200" y="3520440"/>
            <a:ext cx="4572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9ED66D6-A832-5670-E994-45B0E752D713}"/>
              </a:ext>
            </a:extLst>
          </p:cNvPr>
          <p:cNvSpPr/>
          <p:nvPr/>
        </p:nvSpPr>
        <p:spPr>
          <a:xfrm>
            <a:off x="594360" y="353872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Exchange Melas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89CFF0A-CD54-107D-F46E-0C274C35FE0D}"/>
              </a:ext>
            </a:extLst>
          </p:cNvPr>
          <p:cNvSpPr/>
          <p:nvPr/>
        </p:nvSpPr>
        <p:spPr>
          <a:xfrm>
            <a:off x="4480560" y="685800"/>
            <a:ext cx="4343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1BF6722-D856-8E7D-6892-D65B6805F986}"/>
              </a:ext>
            </a:extLst>
          </p:cNvPr>
          <p:cNvSpPr/>
          <p:nvPr/>
        </p:nvSpPr>
        <p:spPr>
          <a:xfrm>
            <a:off x="4480560" y="7498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COVER 3 SEGMENTS</a:t>
            </a:r>
            <a:endParaRPr lang="en-US" sz="13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3A385AE-E8F5-B3E7-C083-60B5BD19226E}"/>
              </a:ext>
            </a:extLst>
          </p:cNvPr>
          <p:cNvSpPr/>
          <p:nvPr/>
        </p:nvSpPr>
        <p:spPr>
          <a:xfrm>
            <a:off x="4572000" y="1161288"/>
            <a:ext cx="4160520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23CB0E1-C385-3C5D-6497-F4E4A9075339}"/>
              </a:ext>
            </a:extLst>
          </p:cNvPr>
          <p:cNvSpPr/>
          <p:nvPr/>
        </p:nvSpPr>
        <p:spPr>
          <a:xfrm>
            <a:off x="4617720" y="1371600"/>
            <a:ext cx="4114800" cy="914400"/>
          </a:xfrm>
          <a:prstGeom prst="rect">
            <a:avLst/>
          </a:prstGeom>
          <a:solidFill>
            <a:srgbClr val="F4F6FB"/>
          </a:solidFill>
          <a:ln w="25400">
            <a:solidFill>
              <a:srgbClr val="1DB954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C8EDCAB-A403-CE1B-5D55-A9036C7E5A37}"/>
              </a:ext>
            </a:extLst>
          </p:cNvPr>
          <p:cNvSpPr/>
          <p:nvPr/>
        </p:nvSpPr>
        <p:spPr>
          <a:xfrm>
            <a:off x="4709160" y="1463040"/>
            <a:ext cx="411480" cy="4114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C969C00-342D-76D0-BCAF-70F1DA676AB4}"/>
              </a:ext>
            </a:extLst>
          </p:cNvPr>
          <p:cNvSpPr/>
          <p:nvPr/>
        </p:nvSpPr>
        <p:spPr>
          <a:xfrm>
            <a:off x="470916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76D1870-6D16-671B-0B39-727685CE3FBF}"/>
              </a:ext>
            </a:extLst>
          </p:cNvPr>
          <p:cNvSpPr/>
          <p:nvPr/>
        </p:nvSpPr>
        <p:spPr>
          <a:xfrm>
            <a:off x="5212080" y="155729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WHEELERS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921088C-AACF-2945-EC5A-3A9E069D197A}"/>
              </a:ext>
            </a:extLst>
          </p:cNvPr>
          <p:cNvSpPr/>
          <p:nvPr/>
        </p:nvSpPr>
        <p:spPr>
          <a:xfrm>
            <a:off x="4617720" y="2423160"/>
            <a:ext cx="4114800" cy="914400"/>
          </a:xfrm>
          <a:prstGeom prst="rect">
            <a:avLst/>
          </a:prstGeom>
          <a:solidFill>
            <a:srgbClr val="F4F6FB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D89C514-02F2-EEF7-F215-D1C452D58183}"/>
              </a:ext>
            </a:extLst>
          </p:cNvPr>
          <p:cNvSpPr/>
          <p:nvPr/>
        </p:nvSpPr>
        <p:spPr>
          <a:xfrm>
            <a:off x="4709160" y="25146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r>
              <a:rPr lang="en-IN" dirty="0"/>
              <a:t>2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9E2DEEC-8F8B-4839-A177-8358E60A6875}"/>
              </a:ext>
            </a:extLst>
          </p:cNvPr>
          <p:cNvSpPr/>
          <p:nvPr/>
        </p:nvSpPr>
        <p:spPr>
          <a:xfrm>
            <a:off x="4709160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578C5E0-1D91-184E-0373-BC79EB1F4919}"/>
              </a:ext>
            </a:extLst>
          </p:cNvPr>
          <p:cNvSpPr/>
          <p:nvPr/>
        </p:nvSpPr>
        <p:spPr>
          <a:xfrm>
            <a:off x="5212080" y="24963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VEHICLES</a:t>
            </a:r>
            <a:endParaRPr lang="en-US" sz="1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A9A6655-31DC-DC2C-5008-1409DA40DD1E}"/>
              </a:ext>
            </a:extLst>
          </p:cNvPr>
          <p:cNvSpPr/>
          <p:nvPr/>
        </p:nvSpPr>
        <p:spPr>
          <a:xfrm>
            <a:off x="4617720" y="3474720"/>
            <a:ext cx="4114800" cy="914400"/>
          </a:xfrm>
          <a:prstGeom prst="rect">
            <a:avLst/>
          </a:prstGeom>
          <a:solidFill>
            <a:srgbClr val="F4F6FB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F9B4F28-93A9-9475-144B-279BD3B1AD1F}"/>
              </a:ext>
            </a:extLst>
          </p:cNvPr>
          <p:cNvSpPr/>
          <p:nvPr/>
        </p:nvSpPr>
        <p:spPr>
          <a:xfrm>
            <a:off x="4709160" y="356616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r>
              <a:rPr lang="en-IN" dirty="0"/>
              <a:t>3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A4590BF-A62B-AE96-985C-5D8BEE8CB1B3}"/>
              </a:ext>
            </a:extLst>
          </p:cNvPr>
          <p:cNvSpPr/>
          <p:nvPr/>
        </p:nvSpPr>
        <p:spPr>
          <a:xfrm>
            <a:off x="470916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3D743C4-F017-1C45-D2FC-947B205E9B1B}"/>
              </a:ext>
            </a:extLst>
          </p:cNvPr>
          <p:cNvSpPr/>
          <p:nvPr/>
        </p:nvSpPr>
        <p:spPr>
          <a:xfrm>
            <a:off x="5212080" y="35478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</a:t>
            </a:r>
            <a:endParaRPr lang="en-US" sz="10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A4771EB0-0D17-9781-3D74-00673DEE45A6}"/>
              </a:ext>
            </a:extLst>
          </p:cNvPr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BAB350E-E0ED-BC6C-42BE-4181FD03E034}"/>
              </a:ext>
            </a:extLst>
          </p:cNvPr>
          <p:cNvSpPr/>
          <p:nvPr/>
        </p:nvSpPr>
        <p:spPr>
          <a:xfrm>
            <a:off x="0" y="49743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Promotion Intelligence Report  |  March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49509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STRATEGY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155448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Seasonal &amp; Event-Driven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peak around festivals and fiscal year-end events. Planning must align with the festival calendar for maximum impact.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51760" cy="1554480"/>
          </a:xfrm>
          <a:prstGeom prst="rect">
            <a:avLst/>
          </a:prstGeom>
          <a:solidFill>
            <a:srgbClr val="15204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4612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Schemes &gt; Discounts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46120" y="1874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Affordability-led conversion (EMI, 0% ROI, 100% funding) drives more purchases than flat discounts in current market.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1051560"/>
            <a:ext cx="2651760" cy="155448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8076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Calendar Dependency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1874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reliance on Holi, Ugadi, Ram Navami, Ramadan for demand triggers. Monitor upcoming festival calendar for demand forecasting.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91640" y="2834640"/>
            <a:ext cx="2651760" cy="1554480"/>
          </a:xfrm>
          <a:prstGeom prst="rect">
            <a:avLst/>
          </a:prstGeom>
          <a:solidFill>
            <a:srgbClr val="15204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2926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Hike Expectations as a Tool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3657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'Last Chance Before Price Hike' strategy proves highly effective in creating urgency and accelerating month-end conversions.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2834640"/>
            <a:ext cx="2651760" cy="1554480"/>
          </a:xfrm>
          <a:prstGeom prst="rect">
            <a:avLst/>
          </a:prstGeom>
          <a:solidFill>
            <a:srgbClr val="1A3A6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926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1772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Shift: Awareness → Urgency → Closure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3657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strategies follow a clear monthly funnel — from festival awareness in early month to maximum urgency and closure at month-end.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743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Promotion Intelligence Report  |  Delivered 2nd of every month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287</Words>
  <Application>Microsoft Office PowerPoint</Application>
  <PresentationFormat>On-screen Show (16:9)</PresentationFormat>
  <Paragraphs>55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Dealer Promotion Intelligence Report</dc:title>
  <dc:subject>PptxGenJS Presentation</dc:subject>
  <dc:creator>PptxGenJS</dc:creator>
  <cp:lastModifiedBy>Borigama Sai</cp:lastModifiedBy>
  <cp:revision>10</cp:revision>
  <dcterms:created xsi:type="dcterms:W3CDTF">2026-04-15T04:14:21Z</dcterms:created>
  <dcterms:modified xsi:type="dcterms:W3CDTF">2026-04-15T07:50:11Z</dcterms:modified>
</cp:coreProperties>
</file>