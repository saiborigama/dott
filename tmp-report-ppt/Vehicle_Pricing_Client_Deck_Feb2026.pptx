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B73"/>
          </a:solidFill>
          <a:ln w="12700">
            <a:solidFill>
              <a:srgbClr val="17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Client Benefits From This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Vehicle Prices Report, February 2026 | Jan 2026 to Feb 2026 price movement summary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730752" cy="1005840"/>
          </a:xfrm>
          <a:prstGeom prst="roundRect">
            <a:avLst>
              <a:gd name="adj" fmla="val 7273"/>
            </a:avLst>
          </a:prstGeom>
          <a:solidFill>
            <a:srgbClr val="EEF6FF"/>
          </a:solidFill>
          <a:ln w="12700">
            <a:solidFill>
              <a:srgbClr val="B9D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33672" y="1417320"/>
            <a:ext cx="3730752" cy="1005840"/>
          </a:xfrm>
          <a:prstGeom prst="roundRect">
            <a:avLst>
              <a:gd name="adj" fmla="val 7273"/>
            </a:avLst>
          </a:prstGeom>
          <a:solidFill>
            <a:srgbClr val="F0FFF8"/>
          </a:solidFill>
          <a:ln w="12700">
            <a:solidFill>
              <a:srgbClr val="BFE9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55864" y="1417320"/>
            <a:ext cx="3730752" cy="1005840"/>
          </a:xfrm>
          <a:prstGeom prst="roundRect">
            <a:avLst>
              <a:gd name="adj" fmla="val 7273"/>
            </a:avLst>
          </a:prstGeom>
          <a:solidFill>
            <a:srgbClr val="FFF8EA"/>
          </a:solidFill>
          <a:ln w="12700">
            <a:solidFill>
              <a:srgbClr val="F3D9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B73"/>
                </a:solidFill>
              </a:rPr>
              <a:t>29 OEMs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tracked across 2W and 4W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6642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E62"/>
                </a:solidFill>
              </a:rPr>
              <a:t>7 segments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19385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from scooters to EVs and MUVs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02752" y="1664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000"/>
                </a:solidFill>
              </a:rPr>
              <a:t>30 model moves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02752" y="19385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explicitly cited in the report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69748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07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CLIENT VALUE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154680"/>
            <a:ext cx="512064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Shows where OEMs are absorbing input-cost inflation versus passing it through to the market.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Helps sales and pricing teams identify the most price-sensitive segments: scooters, commuter bikes, entry cars and EVs.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Supports competitor benchmarking by showing which brands kept prices flat and which took selective hikes.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Improves negotiation, forecasting and campaign planning with model-level evidence, not only brand averages.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2697480"/>
            <a:ext cx="5559552" cy="3246120"/>
          </a:xfrm>
          <a:prstGeom prst="roundRect">
            <a:avLst>
              <a:gd name="adj" fmla="val 2254"/>
            </a:avLst>
          </a:prstGeom>
          <a:solidFill>
            <a:srgbClr val="F7FAFC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9077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KEY TAKEAWAYS FROM THE REPORT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19088" y="3154680"/>
            <a:ext cx="5120640" cy="2514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Affordability protection is the main market theme: many entry and mass segments stayed flat despite metal inflation.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Selective price recovery is visible only where elasticity is stronger, especially Nissan, Toyota, Land Rover, Bajaj and Suzuki.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Premium bikes still saw net declines, signaling strong cost absorption to protect aspiration-led demand.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EV pricing stayed flat even with sharp cobalt inflation, which highlights how sensitive EV adoption remains.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" y="6510528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Source: Sanathana Vehicle Prices Report February 2026, based on OEM websites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B73"/>
          </a:solidFill>
          <a:ln w="12700">
            <a:solidFill>
              <a:srgbClr val="17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Coverage, OEM Count And Top Movers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Brand/OEM detail captured from the report tables and model evidence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EF6FF"/>
          </a:solidFill>
          <a:ln w="12700">
            <a:solidFill>
              <a:srgbClr val="B9D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EF6FF"/>
          </a:solidFill>
          <a:ln w="12700">
            <a:solidFill>
              <a:srgbClr val="B9D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72584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EF6FF"/>
          </a:solidFill>
          <a:ln w="12700">
            <a:solidFill>
              <a:srgbClr val="B9D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03136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EEF6FF"/>
          </a:solidFill>
          <a:ln w="12700">
            <a:solidFill>
              <a:srgbClr val="B9D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33688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EF6FF"/>
          </a:solidFill>
          <a:ln w="12700">
            <a:solidFill>
              <a:srgbClr val="B9D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B73"/>
                </a:solidFill>
              </a:rPr>
              <a:t>12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" y="1938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2W OEMs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8892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B73"/>
                </a:solidFill>
              </a:rPr>
              <a:t>17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88920" y="1938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4W OEMs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19472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B73"/>
                </a:solidFill>
              </a:rPr>
              <a:t>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19472" y="1938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Segments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50024" y="1664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B73"/>
                </a:solidFill>
              </a:rPr>
              <a:t>30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50024" y="1938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Named model price moves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288" y="1664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B73"/>
                </a:solidFill>
              </a:rPr>
              <a:t>Jan-Feb 2026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62288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Observation window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743200"/>
            <a:ext cx="37490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4528" y="274320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2743200"/>
            <a:ext cx="395935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944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SEGMENTS COVERED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182112"/>
            <a:ext cx="3246120" cy="2606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Scooters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Commuter bikes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Premium bikes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Entry and compact cars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Mid-size cars and SUVs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MUVs and vans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EVs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453128" y="2944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TOP OEM / BRAND INCREASES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25696" y="3182112"/>
            <a:ext cx="306324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9E62"/>
                </a:solidFill>
              </a:rPr>
              <a:t>Nissan: +1.6% average maker price change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9E62"/>
                </a:solidFill>
              </a:rPr>
              <a:t>Toyota: +0.7%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9E62"/>
                </a:solidFill>
              </a:rPr>
              <a:t>Bajaj: +0.6%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9E62"/>
                </a:solidFill>
              </a:rPr>
              <a:t>Suzuki: +0.5%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E9E62"/>
                </a:solidFill>
              </a:rPr>
              <a:t>Land Rover: +0.4%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453128" y="4754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TOP OEM / BRAND DECREASES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25696" y="4983480"/>
            <a:ext cx="306324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D64545"/>
                </a:solidFill>
              </a:rPr>
              <a:t>Royal Enfield: -0.5%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D64545"/>
                </a:solidFill>
              </a:rPr>
              <a:t>TVS: -0.4%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D64545"/>
                </a:solidFill>
              </a:rPr>
              <a:t>Most other tracked OEMs: flat month on month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046720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TOP 10 MODEL MOVES MENTIONED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28432" y="3182112"/>
            <a:ext cx="3429000" cy="2651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Bajaj Pulsar 150: +4.7%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Bajaj Pulsar 125: +4.0%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Burgman Street Ride: +3.6%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Range Rover Velar: +3.4%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Hyundai Exter: +3.0%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Nissan Magnite MT: +2.5%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Urban Cruiser Taisor: +2.4%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TVS Raider: -1.8%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TVS XL100: -1.5%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Classic 350 / Bear 650 / Shotgun 650: -1.0%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11480" y="6510528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Counts are based on OEM tables plus explicit model-level evidence shown in the report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B73"/>
          </a:solidFill>
          <a:ln w="12700">
            <a:solidFill>
              <a:srgbClr val="17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Linkage: If Prices Increase, What Happens?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Commercial implication map based on the segments highlighted in the report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EEF6FF"/>
          </a:solidFill>
          <a:ln w="12700">
            <a:solidFill>
              <a:srgbClr val="B9D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141732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7FAFC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63640" y="141732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0FFF8"/>
          </a:solidFill>
          <a:ln w="12700">
            <a:solidFill>
              <a:srgbClr val="BFE9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1417320"/>
            <a:ext cx="2560320" cy="4480560"/>
          </a:xfrm>
          <a:prstGeom prst="roundRect">
            <a:avLst>
              <a:gd name="adj" fmla="val 2857"/>
            </a:avLst>
          </a:prstGeom>
          <a:solidFill>
            <a:srgbClr val="FFF8EA"/>
          </a:solidFill>
          <a:ln w="12700">
            <a:solidFill>
              <a:srgbClr val="F3D9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73"/>
                </a:solidFill>
              </a:rPr>
              <a:t>1. Input-cost pressure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196596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Aluminium, copper and cobalt inflation raise OEM cost base.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Mass segments face the toughest choice: absorb cost or risk demand loss.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21024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B73"/>
                </a:solidFill>
              </a:rPr>
              <a:t>2. OEM pricing response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02736" y="2057400"/>
            <a:ext cx="196596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Affordable segments typically stay flat or see very selective hikes.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Premium and utility-led products are more likely to carry modest price increases.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E62"/>
                </a:solidFill>
              </a:rPr>
              <a:t>3. Market effect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3952" y="2057400"/>
            <a:ext cx="196596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Higher prices in scooters, commuter bikes, entry cars and EVs can slow volumes quickly.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Feature-led premiumisation can soften the impact in SUVs, MUVs and premium bikes.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63456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56600"/>
                </a:solidFill>
              </a:rPr>
              <a:t>4. Client action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45168" y="2057400"/>
            <a:ext cx="1965960" cy="1737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Track elastic segments weekly and use offers, finance or exchange benefits before large price hikes.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Use selective competitor-led benchmarking to decide where margin recovery is realistic.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BE5"/>
                </a:solidFill>
              </a:rPr>
              <a:t>Most likely impact by segment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4864608"/>
            <a:ext cx="109728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Highest demand risk: scooters, commuter bikes, entry cars, EVs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Moderate risk: mid-size cars and SUVs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Better pass-through potential: MUVs, vans, luxury SUVs and selected premium bikes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89788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73"/>
                </a:solidFill>
              </a:rPr>
              <a:t>Input cost inflation -&gt; selective pricing -&gt; volume / mix impact -&gt; action plan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1480" y="6510528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Inference slide built from the price-move evidence and summary statements in the report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73B73"/>
          </a:solidFill>
          <a:ln w="12700">
            <a:solidFill>
              <a:srgbClr val="17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8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B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And Method Notes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10424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Use this slide as the reference page in client conversations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5321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9632" y="141732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7FAFC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6642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PRIMARY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48920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Sanathana, Vehicle Prices Report February 2026.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Observation window stated in the report: Jan 2026 to Feb 2026.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PDF creation date in file metadata: 3 March 2026.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3154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UNDERLYING DATA SOURCE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401568"/>
            <a:ext cx="48920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OEM websites, as cited on the 2W and 4W table pages in the report.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Model-level evidence includes examples such as Pulsar 150, Burgman Street Ride, Magnite MT, Glanza and Range Rover Velar.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664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HOW THIS DECK WAS BUILT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28232" y="1920240"/>
            <a:ext cx="480060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Slide 1 summarizes client benefits and the report's core strategic signals.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Slide 2 counts OEM coverage, segments and the strongest brand/model price movements.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Slide 3 provides business linkage on likely effects of future price increases.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All analysis is based only on the PDF content; no external market-share or volume dataset was added.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4480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E5"/>
                </a:solidFill>
              </a:rPr>
              <a:t>IMPORTANT LIMITATION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28232" y="4736592"/>
            <a:ext cx="47091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The report tracks price movements, not actual sales or market share changes.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Linkage conclusions are directional implications, not causal proof.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" y="6510528"/>
            <a:ext cx="11247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Prepared from the supplied PDF only | Deck created in PowerPoint format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Sanathana analysis deck support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Benefits from Vehicle Prices Report - Feb 2026</dc:title>
  <dc:subject>Vehicle price movement insights, Feb 2026</dc:subject>
  <dc:creator>OpenAI Codex</dc:creator>
  <cp:lastModifiedBy>OpenAI Codex</cp:lastModifiedBy>
  <cp:revision>1</cp:revision>
  <dcterms:created xsi:type="dcterms:W3CDTF">2026-04-15T10:03:06Z</dcterms:created>
  <dcterms:modified xsi:type="dcterms:W3CDTF">2026-04-15T10:03:06Z</dcterms:modified>
</cp:coreProperties>
</file>